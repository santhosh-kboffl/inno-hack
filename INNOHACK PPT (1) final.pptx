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65" r:id="rId4"/>
    <p:sldId id="266" r:id="rId5"/>
    <p:sldId id="267" r:id="rId6"/>
    <p:sldId id="268" r:id="rId7"/>
    <p:sldId id="272" r:id="rId8"/>
    <p:sldId id="274" r:id="rId9"/>
    <p:sldId id="269" r:id="rId10"/>
    <p:sldId id="270" r:id="rId11"/>
    <p:sldId id="271" r:id="rId12"/>
    <p:sldId id="273" r:id="rId13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il4hUTY44DsoPwh4YsnihwaC9l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96934CB-9407-00CC-EE29-ECA0799B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AD7157C5-5A31-EF35-D545-086B49942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9A3F6ECB-6317-5D18-F260-A746FCE18B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7552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93B62AA-BC1E-5671-65AF-72344A94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4C34049-7DB6-163C-0F71-1F0E9CBF4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ACB06C2-7802-9256-8406-6E9D56868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1010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ECE156E-1564-E12E-39C7-5BFA755B0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601DACB1-32B5-75A8-3FAA-3DB3F96E4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9DADA81-B062-24DD-2431-F26561CBE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6536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C8F5780-8627-0308-AC0E-8FA14A122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F848826-E6E3-078C-8785-A67FE1D466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8881ED0-8E62-E051-408F-78A626A4E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4434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E6B456D-66DC-D494-B691-A8F127F1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FF6A408F-93F2-F10A-C01A-629125983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1A1E26A-7B2F-0999-7DAE-4C09B1F59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138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F6AE3DE-AE9D-20E1-7E9E-BA947F2E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58172EBB-69A5-6DDC-2591-87C9D3BF2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E05970F-4878-11A3-99F6-2F6CF50696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2482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FDE0907-279C-6EC6-35BF-DEECE5A10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1DAE52A-9484-6F04-793D-4E4BBC97F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1F2F1E5-FA6B-466F-570B-9E9559954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9529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4D9B9B2-174F-AA53-0386-56FB779D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B1EABF7-39FF-4963-6467-2B3B10D0B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6BF7423-D1B3-E7B6-E5E9-CA2D2F802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0704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59F13BE-5199-2896-5977-62BC4B9B2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C4A273B-9721-EF92-30D6-F4348D7FDF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34C9088-56BC-14AB-1C4E-DCA717D48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9068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1AEF-6580-BB81-8A47-A27F780DE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E829E-859D-0872-57F6-B46F0AAF8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EDE76-41D8-13CF-0909-1F9178087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D5E89-7269-4EF5-9731-7A81C741F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77B95-27D5-C58E-82CF-4AFFB1BD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5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AF0C-2A1B-E3E6-C510-B6478F21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501AA-D489-6EB9-46BF-E96E45850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07AA9-AE88-E255-0ED9-D81C10B5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EBF6F-854F-7151-1703-C10F32753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24BB6-209A-9359-E532-FAD0D26F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251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C625-4561-48FA-10B0-633987C50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EC977-D0F1-D569-C059-D1114727E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107E0-5C22-0CEC-7C16-A88720C1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EC1CE-D22B-ACB8-E8FF-AF93E6C5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715AE-6AC4-E888-7FC9-3632C9B8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8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274D-9AA8-712C-2DC2-F2E4F6BB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D48C-8632-A249-A5BF-5B4399495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F7697-1C27-ABC0-7AAC-19399FD4E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0E84F-2B98-5E09-1F53-0C5A15DD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016B3-092D-9115-D163-7BBFF571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2F4D0-2018-DBD4-0D2E-5B3D9DDC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498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9104-B51E-9DEE-E704-AAAAE6E0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A36C7-9C7B-B533-6A27-FD573F07B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E9C6A-5FD4-0A34-465B-A23C1F956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9F68B-08F0-8FC2-01E1-9BFECE44A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5E502-7364-06DF-2461-804CB8501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CEF2B-FE11-B121-A797-7C1594EE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B50BC-CB08-0BF5-C38F-C63CAB9D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C2574-FD87-748B-FA79-2BC9D7E8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93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6903-3EFE-AC6D-975A-83C155D2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3B9B8-5EF8-CBD7-6B58-74A3E3554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5EF21-F93B-DA39-44AA-34570083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091D1-0A68-25A3-B300-8C280218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453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88425-7A71-137B-DDEF-D65CAC08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9FC1A-5C03-FB53-7B8E-2856DCAE1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3E0D4-239F-D72E-6163-F6080B00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79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0E8A-0D36-DB11-40A2-F60EBD157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874AD-C504-1FCB-B664-390F6407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570CB-D851-13F1-75D8-5B7FABF45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8C5-D412-9EBA-A6B4-6B61B838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133E4-5559-92FC-1018-6752E43C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E5CB5-8C84-4011-213F-2D06FC4A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409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AB08-9952-C9DC-9223-30FA8FC1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0A3DAA-FF6C-0099-F4F5-5D7037300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766CA-6DEB-6930-53B4-C936EE371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404D3-9110-3860-05C4-BC5EF528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19C8D-4E5F-44F2-8270-B1A4BC7D3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5EDF3-8909-9D89-C35B-9D4570B7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377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6CF3-F10F-615B-1412-FE8B9930E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596B1-6D0A-8DD5-33FA-1A8AA18FA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8D4A-9F15-C91D-3935-A090F16B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8A43A-6F2B-DEE2-8225-B1E71925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C59B9-11B1-C24E-BD9E-1DFDDF04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421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376FC-9940-81B1-9BFF-292D15DB4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8CF49-9FDF-B9CD-82E8-CD0EB2434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FAE80-7588-B5A1-4655-E9997225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8AAB-1FD7-AE5C-C337-2240E062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372A5-1275-3D52-712E-358C1129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28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0C1FEE-E42D-F1C7-977F-320AF250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FBEB7-B4E0-F162-5C40-4638FFCEB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76FA0-4AE2-1C91-C08A-73877CAD5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AF113-4798-4869-B845-DD074E1F34ED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F451A-4AE8-E097-51FF-3D830EE63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023E7-8544-60DC-D78A-01B4EEDBB0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E3AB3-74FA-48E7-B4EC-86A7C1E5C3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65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11" Type="http://schemas.openxmlformats.org/officeDocument/2006/relationships/image" Target="../media/image15.png"/><Relationship Id="rId5" Type="http://schemas.openxmlformats.org/officeDocument/2006/relationships/image" Target="../media/image3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/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/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/>
          <p:cNvSpPr/>
          <p:nvPr/>
        </p:nvSpPr>
        <p:spPr>
          <a:xfrm>
            <a:off x="22183" y="923556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/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4179704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5ECE8-D26A-A274-D8E5-D0DD770426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8024" y="2956142"/>
            <a:ext cx="11424894" cy="29139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8B807A-1469-9797-B81A-FD2F6DDF07D7}"/>
              </a:ext>
            </a:extLst>
          </p:cNvPr>
          <p:cNvSpPr txBox="1"/>
          <p:nvPr/>
        </p:nvSpPr>
        <p:spPr>
          <a:xfrm>
            <a:off x="4082583" y="5606484"/>
            <a:ext cx="97825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191923"/>
                </a:solidFill>
                <a:latin typeface="Aptos"/>
              </a:rPr>
              <a:t>PROBLEM STATEMENT:</a:t>
            </a:r>
          </a:p>
          <a:p>
            <a:r>
              <a:rPr lang="en-IN" sz="2000" dirty="0">
                <a:solidFill>
                  <a:srgbClr val="191923"/>
                </a:solidFill>
                <a:latin typeface="Aptos"/>
              </a:rPr>
              <a:t>                                                </a:t>
            </a:r>
            <a:r>
              <a:rPr lang="en-US" sz="2000" dirty="0">
                <a:solidFill>
                  <a:srgbClr val="191923"/>
                </a:solidFill>
                <a:latin typeface="Aptos"/>
              </a:rPr>
              <a:t>Create an AI  framework to enhance low-resolution satellite images for better analysis of lunar and planetary surfaces</a:t>
            </a:r>
            <a:endParaRPr lang="en-IN" sz="2000" dirty="0">
              <a:solidFill>
                <a:srgbClr val="191923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2C54F2-6435-5B93-48C5-9B350A9D627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73804"/>
          <a:stretch>
            <a:fillRect/>
          </a:stretch>
        </p:blipFill>
        <p:spPr>
          <a:xfrm>
            <a:off x="3022254" y="6472380"/>
            <a:ext cx="2801242" cy="963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119E28-16ED-E243-32C0-362CE77EFF8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5938" r="24110"/>
          <a:stretch>
            <a:fillRect/>
          </a:stretch>
        </p:blipFill>
        <p:spPr>
          <a:xfrm>
            <a:off x="9957347" y="6462948"/>
            <a:ext cx="2133600" cy="9632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EBA4AF-B983-0696-EE88-0C2E63C57DFD}"/>
              </a:ext>
            </a:extLst>
          </p:cNvPr>
          <p:cNvSpPr txBox="1"/>
          <p:nvPr/>
        </p:nvSpPr>
        <p:spPr>
          <a:xfrm>
            <a:off x="5858884" y="6587577"/>
            <a:ext cx="2801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191923"/>
                </a:solidFill>
                <a:latin typeface="Aptos"/>
              </a:rPr>
              <a:t>THE SHARK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675DF-C086-3F28-D3FF-083E03F20647}"/>
              </a:ext>
            </a:extLst>
          </p:cNvPr>
          <p:cNvSpPr txBox="1"/>
          <p:nvPr/>
        </p:nvSpPr>
        <p:spPr>
          <a:xfrm>
            <a:off x="12090947" y="6052151"/>
            <a:ext cx="54652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solidFill>
                <a:srgbClr val="191923"/>
              </a:solidFill>
              <a:latin typeface="Aptos"/>
            </a:endParaRPr>
          </a:p>
          <a:p>
            <a:r>
              <a:rPr lang="en-IN" sz="3200" dirty="0" err="1">
                <a:solidFill>
                  <a:srgbClr val="191923"/>
                </a:solidFill>
                <a:latin typeface="Aptos"/>
              </a:rPr>
              <a:t>Prasanna.K</a:t>
            </a:r>
            <a:r>
              <a:rPr lang="en-IN" sz="3200" dirty="0">
                <a:solidFill>
                  <a:srgbClr val="191923"/>
                </a:solidFill>
                <a:latin typeface="Aptos"/>
              </a:rPr>
              <a:t>          25BAI0236</a:t>
            </a:r>
          </a:p>
          <a:p>
            <a:r>
              <a:rPr lang="en-IN" sz="3200" dirty="0" err="1">
                <a:solidFill>
                  <a:srgbClr val="191923"/>
                </a:solidFill>
                <a:latin typeface="Aptos"/>
              </a:rPr>
              <a:t>Srinithi.G</a:t>
            </a:r>
            <a:r>
              <a:rPr lang="en-IN" sz="3200" dirty="0">
                <a:solidFill>
                  <a:srgbClr val="191923"/>
                </a:solidFill>
                <a:latin typeface="Aptos"/>
              </a:rPr>
              <a:t>              25BIT0133</a:t>
            </a:r>
          </a:p>
          <a:p>
            <a:r>
              <a:rPr lang="en-IN" sz="3200" dirty="0" err="1">
                <a:solidFill>
                  <a:srgbClr val="191923"/>
                </a:solidFill>
                <a:latin typeface="Aptos"/>
              </a:rPr>
              <a:t>Santhosh.K.B</a:t>
            </a:r>
            <a:r>
              <a:rPr lang="en-IN" sz="3200" dirty="0">
                <a:solidFill>
                  <a:srgbClr val="191923"/>
                </a:solidFill>
                <a:latin typeface="Aptos"/>
              </a:rPr>
              <a:t>     25BIT0376</a:t>
            </a:r>
          </a:p>
          <a:p>
            <a:r>
              <a:rPr lang="en-IN" sz="3200" dirty="0" err="1">
                <a:solidFill>
                  <a:srgbClr val="191923"/>
                </a:solidFill>
                <a:latin typeface="Aptos"/>
              </a:rPr>
              <a:t>Shreeram.S.S</a:t>
            </a:r>
            <a:r>
              <a:rPr lang="en-IN" sz="3200" dirty="0">
                <a:solidFill>
                  <a:srgbClr val="191923"/>
                </a:solidFill>
                <a:latin typeface="Aptos"/>
              </a:rPr>
              <a:t>     25BVD0032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35EB2-6714-16D5-BA64-9EFD68D71FAB}"/>
              </a:ext>
            </a:extLst>
          </p:cNvPr>
          <p:cNvSpPr txBox="1"/>
          <p:nvPr/>
        </p:nvSpPr>
        <p:spPr>
          <a:xfrm>
            <a:off x="4082583" y="5050455"/>
            <a:ext cx="9799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Track: AI/ML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96ABCD4-EF6F-6900-8843-98EC417F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30B8817E-0CCF-FC3D-10AC-30D603EC3C98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CAC2875E-5FE0-C3CB-E442-AE3EA475E792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9A1E3143-CA26-2C30-989B-5F0DD4E0CD68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95D21A09-B72C-8D8E-4463-8EB4A3BE4D97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E257780E-4C75-B639-A3C0-73294BF8BADF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D25BAD2B-BC3B-43DE-0545-8ACF5C90CF90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DB6C9F2E-3495-476E-9EF5-29AB82E2E514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E272651F-731B-3697-3A8D-DF15C8DEEE15}"/>
              </a:ext>
            </a:extLst>
          </p:cNvPr>
          <p:cNvSpPr txBox="1"/>
          <p:nvPr/>
        </p:nvSpPr>
        <p:spPr>
          <a:xfrm>
            <a:off x="4179704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9B1994-983A-CA60-B233-73DB8318A3FE}"/>
              </a:ext>
            </a:extLst>
          </p:cNvPr>
          <p:cNvSpPr txBox="1"/>
          <p:nvPr/>
        </p:nvSpPr>
        <p:spPr>
          <a:xfrm>
            <a:off x="1352811" y="2455101"/>
            <a:ext cx="15707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33791"/>
                </a:solidFill>
                <a:latin typeface="Aptos"/>
              </a:rPr>
              <a:t>Lunar images can lose important spatial detail because of limited resolution, sensing conditions and image degradation.</a:t>
            </a:r>
          </a:p>
          <a:p>
            <a:endParaRPr lang="en-US" sz="3200" b="1" dirty="0">
              <a:solidFill>
                <a:srgbClr val="233791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E8633-C714-F170-8868-0597BE8EF9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8672" y="3756452"/>
            <a:ext cx="6460065" cy="30295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047F16-C831-1122-6732-36EFF7A32926}"/>
              </a:ext>
            </a:extLst>
          </p:cNvPr>
          <p:cNvSpPr txBox="1"/>
          <p:nvPr/>
        </p:nvSpPr>
        <p:spPr>
          <a:xfrm>
            <a:off x="1473199" y="3503787"/>
            <a:ext cx="955094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solidFill>
                <a:srgbClr val="233791"/>
              </a:solidFill>
              <a:latin typeface="Aptos"/>
            </a:endParaRP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AI super-resolution can improve visual detail, but reconstructed details may not be directly supported by the original observation.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Researchers need to know where an enhanced feature is reliable and where it should be reviewed cautiously.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A scalable workflow should provide both the enhanced image and evidence about reconstruction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325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B2052BE-C213-DBDE-2BBF-CF8CAAB6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5F1C9818-A30B-4AEB-CEE0-2A0B360C1C27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CE63E537-CFE1-F454-DFE2-30E4811C751A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88F8304E-A158-FF71-688C-F38571B32254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375E25D3-D3F4-F4C2-825D-6AC9C0C1CE8A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BAF4FCEF-AC01-6149-8667-458951FADC6B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EC43FA60-717A-8880-046B-3AFF1F5F871D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D14068E9-8B0B-81C1-83B5-D5CFF528662E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73BD1A78-F82C-6CF0-E060-3AFDD6CBBD55}"/>
              </a:ext>
            </a:extLst>
          </p:cNvPr>
          <p:cNvSpPr txBox="1"/>
          <p:nvPr/>
        </p:nvSpPr>
        <p:spPr>
          <a:xfrm>
            <a:off x="4179704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2E3192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E3192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C7205-10CF-CB0F-60F2-37DB0A2FA3C3}"/>
              </a:ext>
            </a:extLst>
          </p:cNvPr>
          <p:cNvSpPr txBox="1"/>
          <p:nvPr/>
        </p:nvSpPr>
        <p:spPr>
          <a:xfrm>
            <a:off x="1503123" y="2555310"/>
            <a:ext cx="16008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233791"/>
                </a:solidFill>
                <a:latin typeface="Aptos"/>
              </a:rPr>
              <a:t>TRUST-AWARE PLANETARY SUPER-RESOLUTION</a:t>
            </a:r>
          </a:p>
          <a:p>
            <a:endParaRPr lang="en-IN" dirty="0"/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D3D3302E-9A5D-599C-EE1D-93BAF4346404}"/>
              </a:ext>
            </a:extLst>
          </p:cNvPr>
          <p:cNvSpPr/>
          <p:nvPr/>
        </p:nvSpPr>
        <p:spPr>
          <a:xfrm>
            <a:off x="6617576" y="4356442"/>
            <a:ext cx="5163212" cy="3262301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kern="1200" dirty="0">
              <a:solidFill>
                <a:srgbClr val="191923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9192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500" kern="1200" dirty="0">
              <a:solidFill>
                <a:srgbClr val="191923"/>
              </a:solidFill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9192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Compare the reconstruction with the original observation and preserved terrain structures.</a:t>
            </a:r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18E28696-0FEB-FF48-D7AC-CAB66C4C5768}"/>
              </a:ext>
            </a:extLst>
          </p:cNvPr>
          <p:cNvSpPr/>
          <p:nvPr/>
        </p:nvSpPr>
        <p:spPr>
          <a:xfrm>
            <a:off x="12732478" y="4356444"/>
            <a:ext cx="5163212" cy="3262301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endParaRPr lang="en-US" dirty="0">
              <a:solidFill>
                <a:srgbClr val="191923"/>
              </a:solidFill>
              <a:latin typeface="Aptos"/>
            </a:endParaRPr>
          </a:p>
          <a:p>
            <a:endParaRPr lang="en-US" dirty="0">
              <a:solidFill>
                <a:srgbClr val="191923"/>
              </a:solidFill>
              <a:latin typeface="Aptos"/>
            </a:endParaRPr>
          </a:p>
          <a:p>
            <a:endParaRPr lang="en-US" dirty="0">
              <a:solidFill>
                <a:srgbClr val="191923"/>
              </a:solidFill>
              <a:latin typeface="Aptos"/>
            </a:endParaRPr>
          </a:p>
          <a:p>
            <a:endParaRPr lang="en-US" sz="2400" dirty="0">
              <a:solidFill>
                <a:srgbClr val="191923"/>
              </a:solidFill>
              <a:latin typeface="Aptos"/>
            </a:endParaRPr>
          </a:p>
          <a:p>
            <a:r>
              <a:rPr lang="en-US" sz="2400" dirty="0">
                <a:solidFill>
                  <a:srgbClr val="191923"/>
                </a:solidFill>
                <a:latin typeface="Aptos"/>
              </a:rPr>
              <a:t>Generate a region-wise scientific confidence map showing high, medium and low support.</a:t>
            </a:r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11264868-F06B-59EC-6737-5E4B9E0D45AE}"/>
              </a:ext>
            </a:extLst>
          </p:cNvPr>
          <p:cNvSpPr/>
          <p:nvPr/>
        </p:nvSpPr>
        <p:spPr>
          <a:xfrm>
            <a:off x="665784" y="4356443"/>
            <a:ext cx="5163212" cy="3262301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EB398B-375A-1B3F-FC7A-88411015B2A3}"/>
              </a:ext>
            </a:extLst>
          </p:cNvPr>
          <p:cNvSpPr txBox="1"/>
          <p:nvPr/>
        </p:nvSpPr>
        <p:spPr>
          <a:xfrm>
            <a:off x="1768299" y="4823603"/>
            <a:ext cx="3858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233791"/>
                </a:solidFill>
                <a:latin typeface="Aptos"/>
              </a:rPr>
              <a:t>ENHANCE</a:t>
            </a:r>
            <a:endParaRPr lang="en-IN" dirty="0"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0F7532EF-BE65-3BED-197E-B77C0E65EA30}"/>
              </a:ext>
            </a:extLst>
          </p:cNvPr>
          <p:cNvSpPr/>
          <p:nvPr/>
        </p:nvSpPr>
        <p:spPr>
          <a:xfrm>
            <a:off x="13193223" y="4767331"/>
            <a:ext cx="530352" cy="384048"/>
          </a:xfrm>
          <a:prstGeom prst="roundRect">
            <a:avLst/>
          </a:prstGeom>
          <a:solidFill>
            <a:srgbClr val="23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ctr"/>
            <a:r>
              <a:rPr lang="en-IN" sz="1300" b="1" dirty="0">
                <a:solidFill>
                  <a:srgbClr val="FFFFFF"/>
                </a:solidFill>
                <a:latin typeface="Aptos"/>
              </a:rPr>
              <a:t>3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5A287309-C14A-DF1C-1D3C-4C4548CE9747}"/>
              </a:ext>
            </a:extLst>
          </p:cNvPr>
          <p:cNvSpPr/>
          <p:nvPr/>
        </p:nvSpPr>
        <p:spPr>
          <a:xfrm>
            <a:off x="7058514" y="4743749"/>
            <a:ext cx="530352" cy="384048"/>
          </a:xfrm>
          <a:prstGeom prst="roundRect">
            <a:avLst/>
          </a:prstGeom>
          <a:solidFill>
            <a:srgbClr val="23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ctr"/>
            <a:r>
              <a:rPr lang="en-IN" sz="1300" b="1" dirty="0">
                <a:solidFill>
                  <a:srgbClr val="FFFFFF"/>
                </a:solidFill>
                <a:latin typeface="Aptos"/>
              </a:rPr>
              <a:t>2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BB3F6F2A-2E3D-66B9-B120-F59733A9A861}"/>
              </a:ext>
            </a:extLst>
          </p:cNvPr>
          <p:cNvSpPr/>
          <p:nvPr/>
        </p:nvSpPr>
        <p:spPr>
          <a:xfrm>
            <a:off x="1237947" y="4767331"/>
            <a:ext cx="530352" cy="384048"/>
          </a:xfrm>
          <a:prstGeom prst="roundRect">
            <a:avLst/>
          </a:prstGeom>
          <a:solidFill>
            <a:srgbClr val="233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ctr"/>
            <a:r>
              <a:rPr lang="en-IN" sz="1300" b="1" dirty="0">
                <a:solidFill>
                  <a:srgbClr val="FFFFFF"/>
                </a:solidFill>
                <a:latin typeface="Aptos"/>
              </a:rPr>
              <a:t>1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9CB55C9-508E-3E46-6ECC-ACEAFC5D28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6380" y="4715494"/>
            <a:ext cx="1018120" cy="48772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B4D8016F-9A7F-AC18-815E-2429F125EA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23575" y="4795957"/>
            <a:ext cx="1182727" cy="48772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2E484FC-D744-99AB-714B-91C0FE92F7A8}"/>
              </a:ext>
            </a:extLst>
          </p:cNvPr>
          <p:cNvSpPr txBox="1"/>
          <p:nvPr/>
        </p:nvSpPr>
        <p:spPr>
          <a:xfrm>
            <a:off x="1237947" y="5283679"/>
            <a:ext cx="4031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91923"/>
                </a:solidFill>
                <a:latin typeface="Aptos"/>
              </a:rPr>
              <a:t>AI super-resolution converts low-resolution lunar imagery into a higher-resolution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226936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767FDE7-08D7-0D15-1086-DEA73666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B5E43775-440E-F53A-D49D-EC2F4A3E345D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970D3A1A-9E44-DC0F-16CD-1037C9A77C1A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249E3CE3-1811-2009-3A47-0CD5E8EF0239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44A1054E-015D-056F-124D-744CB57E5E5B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714F307D-C377-EBDD-F6FF-1C80DC518239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0467B015-5930-127E-4FE5-29D64A5D2DFD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60ACD78A-F19A-1272-9999-D5DF50C3679C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0A6B767-B117-E9AA-EE72-CF038202B537}"/>
              </a:ext>
            </a:extLst>
          </p:cNvPr>
          <p:cNvSpPr txBox="1"/>
          <p:nvPr/>
        </p:nvSpPr>
        <p:spPr>
          <a:xfrm>
            <a:off x="4179704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3DAB9-3194-2A2A-BDE8-37998E51D7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293" y="2866644"/>
            <a:ext cx="2194750" cy="1396105"/>
          </a:xfrm>
          <a:prstGeom prst="rect">
            <a:avLst/>
          </a:prstGeom>
        </p:spPr>
      </p:pic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C9F85626-225C-8148-8CA9-E03A7C613508}"/>
              </a:ext>
            </a:extLst>
          </p:cNvPr>
          <p:cNvSpPr/>
          <p:nvPr/>
        </p:nvSpPr>
        <p:spPr>
          <a:xfrm>
            <a:off x="3191327" y="2843426"/>
            <a:ext cx="2194560" cy="1399032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" tIns="164592" rIns="246888" bIns="109728" rtlCol="0" anchor="ctr"/>
          <a:lstStyle/>
          <a:p>
            <a:pPr algn="ctr" defTabSz="1371600">
              <a:buClrTx/>
            </a:pPr>
            <a:r>
              <a:rPr sz="1800" b="1" kern="1200" dirty="0">
                <a:solidFill>
                  <a:srgbClr val="233791"/>
                </a:solidFill>
                <a:latin typeface="Aptos"/>
              </a:rPr>
              <a:t>PREPROCESS</a:t>
            </a:r>
            <a:br>
              <a:rPr sz="2700" kern="1200" dirty="0">
                <a:solidFill>
                  <a:prstClr val="white"/>
                </a:solidFill>
                <a:latin typeface="Aptos" panose="02110004020202020204"/>
              </a:rPr>
            </a:br>
            <a:r>
              <a:rPr sz="2700" kern="1200" dirty="0">
                <a:solidFill>
                  <a:prstClr val="black"/>
                </a:solidFill>
                <a:latin typeface="Aptos" panose="02110004020202020204"/>
              </a:rPr>
              <a:t>Normalize</a:t>
            </a: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B331A06D-E342-AB84-185B-7E11FFD19C41}"/>
              </a:ext>
            </a:extLst>
          </p:cNvPr>
          <p:cNvSpPr/>
          <p:nvPr/>
        </p:nvSpPr>
        <p:spPr>
          <a:xfrm>
            <a:off x="5564171" y="2866644"/>
            <a:ext cx="2194560" cy="1399032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" tIns="164592" rIns="246888" bIns="109728" rtlCol="0" anchor="ctr"/>
          <a:lstStyle/>
          <a:p>
            <a:pPr algn="ctr" defTabSz="1371600">
              <a:buClrTx/>
            </a:pPr>
            <a:r>
              <a:rPr sz="1800" b="1" kern="1200" dirty="0">
                <a:solidFill>
                  <a:srgbClr val="233791"/>
                </a:solidFill>
                <a:latin typeface="Aptos"/>
              </a:rPr>
              <a:t>TILE</a:t>
            </a:r>
            <a:br>
              <a:rPr sz="2700" kern="1200" dirty="0">
                <a:solidFill>
                  <a:prstClr val="white"/>
                </a:solidFill>
                <a:latin typeface="Aptos" panose="02110004020202020204"/>
              </a:rPr>
            </a:br>
            <a:r>
              <a:rPr sz="2700" kern="1200" dirty="0">
                <a:solidFill>
                  <a:prstClr val="black"/>
                </a:solidFill>
                <a:latin typeface="Aptos" panose="02110004020202020204"/>
              </a:rPr>
              <a:t>Large</a:t>
            </a:r>
            <a:r>
              <a:rPr sz="2700" kern="1200" dirty="0">
                <a:solidFill>
                  <a:prstClr val="white"/>
                </a:solidFill>
                <a:latin typeface="Aptos" panose="02110004020202020204"/>
              </a:rPr>
              <a:t> </a:t>
            </a:r>
            <a:r>
              <a:rPr sz="2700" kern="1200" dirty="0">
                <a:solidFill>
                  <a:prstClr val="black"/>
                </a:solidFill>
                <a:latin typeface="Aptos" panose="02110004020202020204"/>
              </a:rPr>
              <a:t>scenes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2674B384-210B-025D-76B9-8614932BB47F}"/>
              </a:ext>
            </a:extLst>
          </p:cNvPr>
          <p:cNvSpPr/>
          <p:nvPr/>
        </p:nvSpPr>
        <p:spPr>
          <a:xfrm>
            <a:off x="7968948" y="2863717"/>
            <a:ext cx="2194560" cy="1399032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" tIns="164592" rIns="246888" bIns="109728" rtlCol="0" anchor="ctr"/>
          <a:lstStyle/>
          <a:p>
            <a:pPr algn="ctr" defTabSz="1371600">
              <a:buClrTx/>
            </a:pPr>
            <a:r>
              <a:rPr sz="1800" b="1" kern="1200" dirty="0">
                <a:solidFill>
                  <a:srgbClr val="233791"/>
                </a:solidFill>
                <a:latin typeface="Aptos"/>
              </a:rPr>
              <a:t>SR MODEL</a:t>
            </a:r>
            <a:br>
              <a:rPr sz="2700" kern="1200" dirty="0">
                <a:solidFill>
                  <a:prstClr val="white"/>
                </a:solidFill>
                <a:latin typeface="Aptos" panose="02110004020202020204"/>
              </a:rPr>
            </a:br>
            <a:r>
              <a:rPr sz="2700" kern="1200" dirty="0">
                <a:solidFill>
                  <a:prstClr val="black"/>
                </a:solidFill>
                <a:latin typeface="Aptos" panose="02110004020202020204"/>
              </a:rPr>
              <a:t>4× AI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2A644EDA-9A49-DE05-0568-7A1BC7A6BC00}"/>
              </a:ext>
            </a:extLst>
          </p:cNvPr>
          <p:cNvSpPr/>
          <p:nvPr/>
        </p:nvSpPr>
        <p:spPr>
          <a:xfrm>
            <a:off x="10309860" y="2899655"/>
            <a:ext cx="2194560" cy="1399032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" tIns="164592" rIns="246888" bIns="109728" rtlCol="0" anchor="ctr"/>
          <a:lstStyle/>
          <a:p>
            <a:pPr algn="ctr" defTabSz="1371600">
              <a:buClrTx/>
            </a:pPr>
            <a:r>
              <a:rPr sz="1800" b="1" kern="1200" dirty="0">
                <a:solidFill>
                  <a:srgbClr val="233791"/>
                </a:solidFill>
                <a:latin typeface="Aptos"/>
              </a:rPr>
              <a:t>VERIFY</a:t>
            </a:r>
            <a:br>
              <a:rPr sz="2700" kern="1200" dirty="0">
                <a:solidFill>
                  <a:prstClr val="white"/>
                </a:solidFill>
                <a:latin typeface="Aptos" panose="02110004020202020204"/>
              </a:rPr>
            </a:br>
            <a:r>
              <a:rPr sz="2100" kern="1200" dirty="0">
                <a:solidFill>
                  <a:prstClr val="black"/>
                </a:solidFill>
                <a:latin typeface="Aptos" panose="02110004020202020204"/>
              </a:rPr>
              <a:t>Consistency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4FE1AD8D-EFDF-677A-3857-567939D9EE5A}"/>
              </a:ext>
            </a:extLst>
          </p:cNvPr>
          <p:cNvSpPr/>
          <p:nvPr/>
        </p:nvSpPr>
        <p:spPr>
          <a:xfrm>
            <a:off x="12714636" y="2863717"/>
            <a:ext cx="2194560" cy="1399032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" tIns="164592" rIns="246888" bIns="109728" rtlCol="0" anchor="ctr"/>
          <a:lstStyle/>
          <a:p>
            <a:pPr algn="ctr" defTabSz="1371600">
              <a:buClrTx/>
            </a:pPr>
            <a:r>
              <a:rPr sz="1800" b="1" kern="1200" dirty="0">
                <a:solidFill>
                  <a:srgbClr val="233791"/>
                </a:solidFill>
                <a:latin typeface="Aptos"/>
              </a:rPr>
              <a:t>CONFIDENCE</a:t>
            </a:r>
            <a:br>
              <a:rPr sz="2700" kern="1200" dirty="0">
                <a:solidFill>
                  <a:prstClr val="white"/>
                </a:solidFill>
                <a:latin typeface="Aptos" panose="02110004020202020204"/>
              </a:rPr>
            </a:br>
            <a:r>
              <a:rPr sz="2700" kern="1200" dirty="0">
                <a:solidFill>
                  <a:prstClr val="black"/>
                </a:solidFill>
                <a:latin typeface="Aptos" panose="02110004020202020204"/>
              </a:rPr>
              <a:t>Evidence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57C36D62-9896-FCC3-3EF9-D9AB3E975C1E}"/>
              </a:ext>
            </a:extLst>
          </p:cNvPr>
          <p:cNvSpPr/>
          <p:nvPr/>
        </p:nvSpPr>
        <p:spPr>
          <a:xfrm>
            <a:off x="15119412" y="2863717"/>
            <a:ext cx="2093976" cy="1399032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" tIns="164592" rIns="246888" bIns="109728" rtlCol="0" anchor="ctr"/>
          <a:lstStyle/>
          <a:p>
            <a:pPr algn="ctr" defTabSz="1371600">
              <a:buClrTx/>
            </a:pPr>
            <a:r>
              <a:rPr sz="1800" b="1" kern="1200" dirty="0">
                <a:solidFill>
                  <a:srgbClr val="233791"/>
                </a:solidFill>
                <a:latin typeface="Aptos"/>
              </a:rPr>
              <a:t>OUTPUT</a:t>
            </a:r>
            <a:br>
              <a:rPr sz="2700" kern="1200" dirty="0">
                <a:solidFill>
                  <a:prstClr val="white"/>
                </a:solidFill>
                <a:latin typeface="Aptos" panose="02110004020202020204"/>
              </a:rPr>
            </a:br>
            <a:r>
              <a:rPr sz="2700" kern="1200" dirty="0">
                <a:solidFill>
                  <a:prstClr val="black"/>
                </a:solidFill>
                <a:latin typeface="Aptos" panose="02110004020202020204"/>
              </a:rPr>
              <a:t>HR</a:t>
            </a:r>
            <a:r>
              <a:rPr sz="2700" kern="1200" dirty="0">
                <a:solidFill>
                  <a:prstClr val="white"/>
                </a:solidFill>
                <a:latin typeface="Aptos" panose="02110004020202020204"/>
              </a:rPr>
              <a:t> </a:t>
            </a:r>
            <a:r>
              <a:rPr sz="2700" kern="1200" dirty="0">
                <a:solidFill>
                  <a:prstClr val="black"/>
                </a:solidFill>
                <a:latin typeface="Aptos" panose="02110004020202020204"/>
              </a:rPr>
              <a:t>+</a:t>
            </a:r>
            <a:r>
              <a:rPr sz="2700" kern="1200" dirty="0">
                <a:solidFill>
                  <a:prstClr val="white"/>
                </a:solidFill>
                <a:latin typeface="Aptos" panose="02110004020202020204"/>
              </a:rPr>
              <a:t> </a:t>
            </a:r>
            <a:r>
              <a:rPr sz="2400" kern="1200" dirty="0">
                <a:solidFill>
                  <a:prstClr val="black"/>
                </a:solidFill>
                <a:latin typeface="Aptos" panose="02110004020202020204"/>
              </a:rPr>
              <a:t>report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BA3CB4-976B-D8B9-FC4C-263BA59E0824}"/>
              </a:ext>
            </a:extLst>
          </p:cNvPr>
          <p:cNvSpPr txBox="1"/>
          <p:nvPr/>
        </p:nvSpPr>
        <p:spPr>
          <a:xfrm>
            <a:off x="818293" y="5143500"/>
            <a:ext cx="808440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>
              <a:spcAft>
                <a:spcPts val="1200"/>
              </a:spcAft>
              <a:buClrTx/>
              <a:defRPr sz="1400">
                <a:solidFill>
                  <a:srgbClr val="191923"/>
                </a:solidFill>
                <a:latin typeface="Aptos"/>
              </a:defRPr>
            </a:pPr>
            <a:r>
              <a:rPr lang="en-US" sz="2800" kern="1200" dirty="0">
                <a:solidFill>
                  <a:srgbClr val="191923"/>
                </a:solidFill>
                <a:latin typeface="Aptos"/>
              </a:rPr>
              <a:t>Start from a proven super-resolution architecture and adapt it to lunar imagery.</a:t>
            </a:r>
          </a:p>
          <a:p>
            <a:pPr defTabSz="1371600">
              <a:spcAft>
                <a:spcPts val="1200"/>
              </a:spcAft>
              <a:buClrTx/>
              <a:defRPr sz="1400">
                <a:solidFill>
                  <a:srgbClr val="191923"/>
                </a:solidFill>
                <a:latin typeface="Aptos"/>
              </a:defRPr>
            </a:pPr>
            <a:r>
              <a:rPr lang="en-US" sz="2800" kern="1200" dirty="0">
                <a:solidFill>
                  <a:srgbClr val="191923"/>
                </a:solidFill>
                <a:latin typeface="Aptos"/>
              </a:rPr>
              <a:t>Create realistic LR/HR training pairs using controlled degradation.</a:t>
            </a:r>
          </a:p>
          <a:p>
            <a:pPr defTabSz="1371600">
              <a:spcAft>
                <a:spcPts val="1200"/>
              </a:spcAft>
              <a:buClrTx/>
              <a:defRPr sz="1400">
                <a:solidFill>
                  <a:srgbClr val="191923"/>
                </a:solidFill>
                <a:latin typeface="Aptos"/>
              </a:defRPr>
            </a:pPr>
            <a:r>
              <a:rPr lang="en-US" sz="2800" kern="1200" dirty="0">
                <a:solidFill>
                  <a:srgbClr val="191923"/>
                </a:solidFill>
                <a:latin typeface="Aptos"/>
              </a:rPr>
              <a:t>Use overlapping tiles and seamless stitching for large scenes</a:t>
            </a:r>
            <a:endParaRPr lang="en-IN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268F7-2D9B-9EE3-A464-79265598E9FF}"/>
              </a:ext>
            </a:extLst>
          </p:cNvPr>
          <p:cNvSpPr txBox="1"/>
          <p:nvPr/>
        </p:nvSpPr>
        <p:spPr>
          <a:xfrm>
            <a:off x="9319364" y="5143500"/>
            <a:ext cx="789402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371600">
              <a:spcAft>
                <a:spcPts val="1200"/>
              </a:spcAft>
              <a:buClrTx/>
              <a:defRPr sz="1400">
                <a:solidFill>
                  <a:srgbClr val="191923"/>
                </a:solidFill>
                <a:latin typeface="Aptos"/>
              </a:defRPr>
            </a:pPr>
            <a:r>
              <a:rPr lang="en-US" sz="2800" kern="1200" dirty="0">
                <a:solidFill>
                  <a:srgbClr val="191923"/>
                </a:solidFill>
                <a:latin typeface="Aptos"/>
              </a:rPr>
              <a:t>Consistency: compare the original observation with a re-projected/</a:t>
            </a:r>
            <a:r>
              <a:rPr lang="en-US" sz="2800" kern="1200" dirty="0" err="1">
                <a:solidFill>
                  <a:srgbClr val="191923"/>
                </a:solidFill>
                <a:latin typeface="Aptos"/>
              </a:rPr>
              <a:t>downsampled</a:t>
            </a:r>
            <a:r>
              <a:rPr lang="en-US" sz="2800" kern="1200" dirty="0">
                <a:solidFill>
                  <a:srgbClr val="191923"/>
                </a:solidFill>
                <a:latin typeface="Aptos"/>
              </a:rPr>
              <a:t> reconstruction.</a:t>
            </a:r>
          </a:p>
          <a:p>
            <a:pPr defTabSz="1371600">
              <a:spcAft>
                <a:spcPts val="1200"/>
              </a:spcAft>
              <a:buClrTx/>
              <a:defRPr sz="1400">
                <a:solidFill>
                  <a:srgbClr val="191923"/>
                </a:solidFill>
                <a:latin typeface="Aptos"/>
              </a:defRPr>
            </a:pPr>
            <a:r>
              <a:rPr lang="en-US" sz="2800" kern="1200" dirty="0">
                <a:solidFill>
                  <a:srgbClr val="191923"/>
                </a:solidFill>
                <a:latin typeface="Aptos"/>
              </a:rPr>
              <a:t>Terrain: preserve crater rims, ridges, edges and other structural cues.</a:t>
            </a:r>
          </a:p>
          <a:p>
            <a:pPr defTabSz="1371600">
              <a:spcAft>
                <a:spcPts val="1200"/>
              </a:spcAft>
              <a:buClrTx/>
              <a:defRPr sz="1400">
                <a:solidFill>
                  <a:srgbClr val="191923"/>
                </a:solidFill>
                <a:latin typeface="Aptos"/>
              </a:defRPr>
            </a:pPr>
            <a:r>
              <a:rPr lang="en-US" sz="2800" kern="1200" dirty="0">
                <a:solidFill>
                  <a:srgbClr val="191923"/>
                </a:solidFill>
                <a:latin typeface="Aptos"/>
              </a:rPr>
              <a:t>Confidence combines evidence; it does not claim pixels are simply 'real' or 'fake'.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9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F2827BF-5BE9-CA68-ADC6-6B3B95CF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564F4321-D54D-B220-D247-9088659FB6B1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0AF9BABD-32B4-DCF4-95B0-8772ABC4D1F1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CAA85EA4-D830-70E8-BB49-BDEABAB08486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E3BE50E2-919E-08D6-DADA-D0D71C96E3AA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BB197CC9-662C-C08B-D701-41A85EF21A6F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5B0CA304-7A2D-35E5-5074-08B782813D49}"/>
              </a:ext>
            </a:extLst>
          </p:cNvPr>
          <p:cNvSpPr/>
          <p:nvPr/>
        </p:nvSpPr>
        <p:spPr>
          <a:xfrm>
            <a:off x="0" y="1049095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B13C9260-792E-057C-56C0-BBA16B4623B6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0D28EBB2-9362-0DF9-9E45-8D75DF86116D}"/>
              </a:ext>
            </a:extLst>
          </p:cNvPr>
          <p:cNvSpPr txBox="1"/>
          <p:nvPr/>
        </p:nvSpPr>
        <p:spPr>
          <a:xfrm>
            <a:off x="4286240" y="1471106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B220B8-62AE-8730-6435-5F4E22DE2E8D}"/>
              </a:ext>
            </a:extLst>
          </p:cNvPr>
          <p:cNvSpPr txBox="1"/>
          <p:nvPr/>
        </p:nvSpPr>
        <p:spPr>
          <a:xfrm>
            <a:off x="1669889" y="2416137"/>
            <a:ext cx="3683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233791"/>
                </a:solidFill>
                <a:latin typeface="Aptos"/>
              </a:rPr>
              <a:t>ORIGINAL LOW-RES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E9338-026A-FF7B-9F8E-11BF9C85690E}"/>
              </a:ext>
            </a:extLst>
          </p:cNvPr>
          <p:cNvSpPr txBox="1"/>
          <p:nvPr/>
        </p:nvSpPr>
        <p:spPr>
          <a:xfrm>
            <a:off x="10916855" y="2416137"/>
            <a:ext cx="57012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233791"/>
                </a:solidFill>
                <a:latin typeface="Aptos"/>
              </a:rPr>
              <a:t>AI-ENHANCED + CONFIDENCE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D6EA49-1CEE-E4E3-D6B3-E024BAFF0F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9889" y="3014156"/>
            <a:ext cx="3025463" cy="3018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2BE524-13B3-4E99-4D28-03921EF9272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2070"/>
          <a:stretch>
            <a:fillRect/>
          </a:stretch>
        </p:blipFill>
        <p:spPr>
          <a:xfrm>
            <a:off x="14014920" y="2984208"/>
            <a:ext cx="3550754" cy="66974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6E1FF7-4054-56BB-52D1-CDC6C5524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6421" y="2984208"/>
            <a:ext cx="3018344" cy="30183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8A74C5-520A-C3D7-BC00-56F0D2FDF1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6421" y="6163423"/>
            <a:ext cx="1205077" cy="12050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93038F-A969-4B67-B627-40B5CB8132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90524" y="6217557"/>
            <a:ext cx="1205077" cy="12050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85A2DF-C95A-1C8F-AE60-62D6093C668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68544" y="6217556"/>
            <a:ext cx="1205077" cy="12050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35A4C4-931D-05DB-C24A-16D995E379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39845" y="6163423"/>
            <a:ext cx="1205077" cy="12050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BCAF90-D067-CCEA-4A8A-646A6B73EFD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90524" y="7870862"/>
            <a:ext cx="1205076" cy="12050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8AB6D3-C142-0A61-EEE2-A3C4F6456A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6421" y="7803493"/>
            <a:ext cx="1205076" cy="12050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0095A6E-4989-9610-F33D-20006453974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68545" y="7862634"/>
            <a:ext cx="1205076" cy="12050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6418AE3-0581-9A2C-EB51-F332D52BFC2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39845" y="7803493"/>
            <a:ext cx="1205076" cy="120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9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0ABD337-FF30-6615-E168-406DA665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FF7106AA-7CED-C47A-AD91-147CD6872FF3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ECFC2F67-AD5E-EAE7-54B5-86DB2C8DB174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9C09231F-9DC1-CD52-6953-383F6491280B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A038AA8F-079E-4748-75F7-BAE94A372786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23D1761E-DD6D-9CC3-250C-C2E335392D31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E71AE0EF-7692-08CA-D451-8B4D04807D45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DF7457EE-8FBC-1290-BB8B-AA5B9A1E406F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B96A1C7-2675-9C20-0A5E-B823BC1CA644}"/>
              </a:ext>
            </a:extLst>
          </p:cNvPr>
          <p:cNvSpPr txBox="1"/>
          <p:nvPr/>
        </p:nvSpPr>
        <p:spPr>
          <a:xfrm>
            <a:off x="4286240" y="1471106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EFE5B-F602-BD56-857B-262456D1661E}"/>
              </a:ext>
            </a:extLst>
          </p:cNvPr>
          <p:cNvSpPr txBox="1"/>
          <p:nvPr/>
        </p:nvSpPr>
        <p:spPr>
          <a:xfrm>
            <a:off x="1293623" y="3299559"/>
            <a:ext cx="728160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Planetary scientists: inspect enhanced terrain with an explicit reliability layer.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Geological analysis: prioritize craters, ridges, boulders and other surface structures.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Mission / archival analysis: improve imagery usability without hiding uncertainty.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Research workflows: export enhanced imagery, metrics and confidence information together.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C0BBC6DE-6084-C58A-DF1A-693B22381CBE}"/>
              </a:ext>
            </a:extLst>
          </p:cNvPr>
          <p:cNvSpPr/>
          <p:nvPr/>
        </p:nvSpPr>
        <p:spPr>
          <a:xfrm>
            <a:off x="10725376" y="3056796"/>
            <a:ext cx="5416324" cy="1467838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1500" b="1" dirty="0">
                <a:solidFill>
                  <a:srgbClr val="233791"/>
                </a:solidFill>
                <a:latin typeface="Aptos"/>
              </a:rPr>
              <a:t>WHO BENEFITS?</a:t>
            </a:r>
            <a:br>
              <a:rPr dirty="0"/>
            </a:br>
            <a:r>
              <a:rPr dirty="0">
                <a:solidFill>
                  <a:schemeClr val="tx1"/>
                </a:solidFill>
              </a:rPr>
              <a:t>ISRO / planetary researchers / geology teams / remote-sensing researchers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389F5C95-B3C0-ACBB-DE94-467557AEE79F}"/>
              </a:ext>
            </a:extLst>
          </p:cNvPr>
          <p:cNvSpPr/>
          <p:nvPr/>
        </p:nvSpPr>
        <p:spPr>
          <a:xfrm>
            <a:off x="10716887" y="4798966"/>
            <a:ext cx="5416324" cy="1329726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1500" b="1" dirty="0">
                <a:solidFill>
                  <a:srgbClr val="233791"/>
                </a:solidFill>
                <a:latin typeface="Aptos"/>
              </a:rPr>
              <a:t>REAL-WORLD VALUE</a:t>
            </a:r>
            <a:br>
              <a:rPr dirty="0"/>
            </a:br>
            <a:r>
              <a:rPr dirty="0">
                <a:solidFill>
                  <a:schemeClr val="tx1"/>
                </a:solidFill>
              </a:rPr>
              <a:t>Better visual detail + explicit caution zones for scientific review.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6429D095-EE88-7196-5B00-85C37A749520}"/>
              </a:ext>
            </a:extLst>
          </p:cNvPr>
          <p:cNvSpPr/>
          <p:nvPr/>
        </p:nvSpPr>
        <p:spPr>
          <a:xfrm>
            <a:off x="10725376" y="6403025"/>
            <a:ext cx="5416324" cy="1467838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1500" b="1" dirty="0">
                <a:solidFill>
                  <a:srgbClr val="233791"/>
                </a:solidFill>
                <a:latin typeface="Aptos"/>
              </a:rPr>
              <a:t>SCALING</a:t>
            </a:r>
            <a:br>
              <a:rPr dirty="0"/>
            </a:br>
            <a:r>
              <a:rPr dirty="0">
                <a:solidFill>
                  <a:schemeClr val="tx1"/>
                </a:solidFill>
              </a:rPr>
              <a:t>Tile-based processing supports large planetary scenes and batch workloads</a:t>
            </a:r>
            <a:r>
              <a:rPr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2045D-FC55-8340-5026-8FF4663AEE86}"/>
              </a:ext>
            </a:extLst>
          </p:cNvPr>
          <p:cNvSpPr txBox="1"/>
          <p:nvPr/>
        </p:nvSpPr>
        <p:spPr>
          <a:xfrm>
            <a:off x="1293623" y="2178992"/>
            <a:ext cx="728160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85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BAB90B-6935-9F37-8BD6-31930005C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037166"/>
            <a:ext cx="13627100" cy="90847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23E4CF-EB2A-EB83-44F4-B9233174C674}"/>
              </a:ext>
            </a:extLst>
          </p:cNvPr>
          <p:cNvSpPr txBox="1"/>
          <p:nvPr/>
        </p:nvSpPr>
        <p:spPr>
          <a:xfrm>
            <a:off x="1206500" y="419100"/>
            <a:ext cx="608051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/>
              <a:t>EXPECTED OUTPUTS</a:t>
            </a:r>
          </a:p>
        </p:txBody>
      </p:sp>
    </p:spTree>
    <p:extLst>
      <p:ext uri="{BB962C8B-B14F-4D97-AF65-F5344CB8AC3E}">
        <p14:creationId xmlns:p14="http://schemas.microsoft.com/office/powerpoint/2010/main" val="144740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F571334-730D-2E5A-91DF-8D2E262C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87654AE1-479A-E5E4-4562-C87A67A6B336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AC7C6507-BB89-5897-9F0E-5BC79096C0B8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F3FB7994-BDB7-CF0C-38E2-C9E2BE123B73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B158C542-420C-31E2-A9D2-26B7522AE5BA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3B6B8D2F-6573-4B7C-8E9C-B0ABB4415C06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5457DEF0-ADAC-B4BE-1A5C-CBD4431B5CA7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5C67520D-626A-C8FD-825C-0DCC23571EB7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2749EBEB-C41F-EAED-0BC2-26C15541BF5E}"/>
              </a:ext>
            </a:extLst>
          </p:cNvPr>
          <p:cNvSpPr txBox="1"/>
          <p:nvPr/>
        </p:nvSpPr>
        <p:spPr>
          <a:xfrm>
            <a:off x="4286240" y="1471106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158B07-3D9E-5242-B44B-B81B0D558883}"/>
              </a:ext>
            </a:extLst>
          </p:cNvPr>
          <p:cNvSpPr txBox="1"/>
          <p:nvPr/>
        </p:nvSpPr>
        <p:spPr>
          <a:xfrm>
            <a:off x="1669889" y="3206663"/>
            <a:ext cx="7474111" cy="5150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Obtaining consistent high-resolution references and realistic degradation pairs.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Avoiding visually pleasing but unsupported reconstructed structures.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Designing a confidence score that is useful rather than a generic error heatmap.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Processing very large images efficiently.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84F39-5306-C6B8-C325-0A80ADED0239}"/>
              </a:ext>
            </a:extLst>
          </p:cNvPr>
          <p:cNvSpPr txBox="1"/>
          <p:nvPr/>
        </p:nvSpPr>
        <p:spPr>
          <a:xfrm>
            <a:off x="9845458" y="3106455"/>
            <a:ext cx="6772653" cy="4657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Use controlled degradation during training and validation.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Measure consistency against the original observation.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Combine reconstruction, terrain and model-agreement signals.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Use tiling and GPU-friendly inference for scalability.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13650-01AD-8F4F-470B-5D26D14ACBF6}"/>
              </a:ext>
            </a:extLst>
          </p:cNvPr>
          <p:cNvSpPr txBox="1"/>
          <p:nvPr/>
        </p:nvSpPr>
        <p:spPr>
          <a:xfrm>
            <a:off x="1669889" y="2178992"/>
            <a:ext cx="648752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CHALLENGES FACED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2795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ABFD5DC-D2F6-14C8-D478-CF74F422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5C175984-4D44-CBEC-B63E-7E57DBCBD941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A9A2EF74-495C-C55B-DD6A-2C8710E4FC8D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6A4A0A72-204B-A82A-BAAF-2D9A82818A18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D3A1D8D3-EC0E-C609-B409-85960DF4B552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84E56976-DBD1-B50A-D63C-C98080B2BFEF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05655E0E-1E4F-D9F2-8DA6-8E2AC532E255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5597696A-D353-65BB-D9B7-3B639A8D6BF1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29D1AAF-D9E0-D73B-11D5-0CF216159647}"/>
              </a:ext>
            </a:extLst>
          </p:cNvPr>
          <p:cNvSpPr txBox="1"/>
          <p:nvPr/>
        </p:nvSpPr>
        <p:spPr>
          <a:xfrm>
            <a:off x="4286240" y="1471106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79AE1-FE59-2312-516D-70B22373AF3D}"/>
              </a:ext>
            </a:extLst>
          </p:cNvPr>
          <p:cNvSpPr txBox="1"/>
          <p:nvPr/>
        </p:nvSpPr>
        <p:spPr>
          <a:xfrm>
            <a:off x="1126004" y="3236073"/>
            <a:ext cx="801799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IN" sz="3200" dirty="0"/>
              <a:t>Mission-specific degradation models for different spacecraft sensors.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IN" sz="3200" dirty="0"/>
              <a:t>Integration of multi-view observations for stronger geometric verification.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IN" sz="3200" dirty="0"/>
              <a:t>3D terrain / DEM-aware confidence estimation.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IN" sz="3200" dirty="0"/>
              <a:t>Automatic detection of scientifically interesting regions.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6B6DED-2C3F-4FFD-30CF-C7107E180D29}"/>
              </a:ext>
            </a:extLst>
          </p:cNvPr>
          <p:cNvSpPr txBox="1"/>
          <p:nvPr/>
        </p:nvSpPr>
        <p:spPr>
          <a:xfrm>
            <a:off x="9312927" y="3236073"/>
            <a:ext cx="696447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Support additional planetary missions and instruments.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PDS4-aware input/output and metadata preservation.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Human-in-the-loop review of low-confidence regions.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3200" dirty="0"/>
              <a:t>Cloud / GPU deployment for large-scale planetary archives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413C2A-C5CE-E923-92F9-BE9C99B661BC}"/>
              </a:ext>
            </a:extLst>
          </p:cNvPr>
          <p:cNvSpPr txBox="1"/>
          <p:nvPr/>
        </p:nvSpPr>
        <p:spPr>
          <a:xfrm>
            <a:off x="1154547" y="2178992"/>
            <a:ext cx="668955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28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69432AF-5E60-AF05-09FA-726BF2DFC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65BC8E00-B7E6-3613-CF81-2458F98A35ED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E92855E4-E53E-918B-6592-164340BE286B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7A1A606E-F7B0-D25A-AF35-3B179DB650D2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1FD9FF7E-79FE-4BBE-0592-6CFC5A7D6A28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CD89B88B-0865-D414-81BB-9D72832EBD2C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21A305A8-284C-4D0F-104E-E35D14E47CBD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57B25AD4-CF6F-317E-71F0-0627FAD21E4C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3F65B3D0-C670-3ED8-A284-7ABBD21B2C1E}"/>
              </a:ext>
            </a:extLst>
          </p:cNvPr>
          <p:cNvSpPr txBox="1"/>
          <p:nvPr/>
        </p:nvSpPr>
        <p:spPr>
          <a:xfrm>
            <a:off x="4286240" y="1471106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671821-6583-840C-A892-182E660BABFC}"/>
              </a:ext>
            </a:extLst>
          </p:cNvPr>
          <p:cNvSpPr txBox="1"/>
          <p:nvPr/>
        </p:nvSpPr>
        <p:spPr>
          <a:xfrm>
            <a:off x="2745135" y="2985049"/>
            <a:ext cx="1287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33791"/>
                </a:solidFill>
                <a:latin typeface="Aptos"/>
              </a:rPr>
              <a:t>ENHANCE THE IMAGE — BUT ALSO SHOW HOW MUCH IT SHOULD BE TRUSTED.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5BD25-15DE-7E8D-E188-30DEFAE8D4FB}"/>
              </a:ext>
            </a:extLst>
          </p:cNvPr>
          <p:cNvSpPr txBox="1"/>
          <p:nvPr/>
        </p:nvSpPr>
        <p:spPr>
          <a:xfrm>
            <a:off x="2192055" y="4546948"/>
            <a:ext cx="710225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AI super-resolution improves spatial detail.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Scientific verification checks reconstruction consistency and terrain preservation.</a:t>
            </a:r>
          </a:p>
          <a:p>
            <a:pPr>
              <a:spcAft>
                <a:spcPts val="800"/>
              </a:spcAft>
              <a:defRPr sz="1600">
                <a:solidFill>
                  <a:srgbClr val="191923"/>
                </a:solidFill>
                <a:latin typeface="Aptos"/>
              </a:defRPr>
            </a:pPr>
            <a:r>
              <a:rPr lang="en-US" sz="2800" dirty="0"/>
              <a:t>A confidence map exposes uncertain regions instead of hiding them.</a:t>
            </a:r>
          </a:p>
          <a:p>
            <a:endParaRPr lang="en-IN" dirty="0"/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F23C83DF-6279-F445-AB40-1DB2C928E1A2}"/>
              </a:ext>
            </a:extLst>
          </p:cNvPr>
          <p:cNvSpPr/>
          <p:nvPr/>
        </p:nvSpPr>
        <p:spPr>
          <a:xfrm>
            <a:off x="10043265" y="4363007"/>
            <a:ext cx="6052680" cy="2769988"/>
          </a:xfrm>
          <a:prstGeom prst="round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73152" rtlCol="0" anchor="t"/>
          <a:lstStyle/>
          <a:p>
            <a:pPr algn="l"/>
            <a:r>
              <a:rPr sz="2400" b="1" dirty="0">
                <a:solidFill>
                  <a:srgbClr val="233791"/>
                </a:solidFill>
                <a:latin typeface="Aptos"/>
              </a:rPr>
              <a:t>NOVELTY</a:t>
            </a:r>
            <a:br>
              <a:rPr dirty="0"/>
            </a:br>
            <a:r>
              <a:rPr sz="2400" dirty="0">
                <a:solidFill>
                  <a:schemeClr val="tx1"/>
                </a:solidFill>
              </a:rPr>
              <a:t>A trust layer around planetary super-resolution: region-wise evidence accompanies every enhanced image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0203F-2C80-989D-F430-415D01E70CDC}"/>
              </a:ext>
            </a:extLst>
          </p:cNvPr>
          <p:cNvSpPr txBox="1"/>
          <p:nvPr/>
        </p:nvSpPr>
        <p:spPr>
          <a:xfrm>
            <a:off x="1869197" y="2178992"/>
            <a:ext cx="42531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85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15973D4-E9D3-D018-CEF8-076C20B3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>
            <a:extLst>
              <a:ext uri="{FF2B5EF4-FFF2-40B4-BE49-F238E27FC236}">
                <a16:creationId xmlns:a16="http://schemas.microsoft.com/office/drawing/2014/main" id="{5EAA506A-DAFB-CED6-DBC8-B662AEBCCD67}"/>
              </a:ext>
            </a:extLst>
          </p:cNvPr>
          <p:cNvGrpSpPr/>
          <p:nvPr/>
        </p:nvGrpSpPr>
        <p:grpSpPr>
          <a:xfrm>
            <a:off x="3995767" y="-237591"/>
            <a:ext cx="10296467" cy="1734369"/>
            <a:chOff x="0" y="0"/>
            <a:chExt cx="13728622" cy="2312492"/>
          </a:xfrm>
        </p:grpSpPr>
        <p:sp>
          <p:nvSpPr>
            <p:cNvPr id="85" name="Google Shape;85;p1">
              <a:extLst>
                <a:ext uri="{FF2B5EF4-FFF2-40B4-BE49-F238E27FC236}">
                  <a16:creationId xmlns:a16="http://schemas.microsoft.com/office/drawing/2014/main" id="{A3D32667-A56A-D6AB-50C2-4253F1BFAD91}"/>
                </a:ext>
              </a:extLst>
            </p:cNvPr>
            <p:cNvSpPr/>
            <p:nvPr/>
          </p:nvSpPr>
          <p:spPr>
            <a:xfrm>
              <a:off x="11416130" y="0"/>
              <a:ext cx="2312492" cy="2312492"/>
            </a:xfrm>
            <a:custGeom>
              <a:avLst/>
              <a:gdLst/>
              <a:ahLst/>
              <a:cxnLst/>
              <a:rect l="l" t="t" r="r" b="b"/>
              <a:pathLst>
                <a:path w="2312492" h="2312492" extrusionOk="0">
                  <a:moveTo>
                    <a:pt x="0" y="0"/>
                  </a:moveTo>
                  <a:lnTo>
                    <a:pt x="2312492" y="0"/>
                  </a:lnTo>
                  <a:lnTo>
                    <a:pt x="2312492" y="2312492"/>
                  </a:lnTo>
                  <a:lnTo>
                    <a:pt x="0" y="23124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6" name="Google Shape;86;p1">
              <a:extLst>
                <a:ext uri="{FF2B5EF4-FFF2-40B4-BE49-F238E27FC236}">
                  <a16:creationId xmlns:a16="http://schemas.microsoft.com/office/drawing/2014/main" id="{A7DDC61D-831B-C2FE-CE3C-A73CE184DBFD}"/>
                </a:ext>
              </a:extLst>
            </p:cNvPr>
            <p:cNvSpPr/>
            <p:nvPr/>
          </p:nvSpPr>
          <p:spPr>
            <a:xfrm>
              <a:off x="9371173" y="547849"/>
              <a:ext cx="1754643" cy="1414221"/>
            </a:xfrm>
            <a:custGeom>
              <a:avLst/>
              <a:gdLst/>
              <a:ahLst/>
              <a:cxnLst/>
              <a:rect l="l" t="t" r="r" b="b"/>
              <a:pathLst>
                <a:path w="1754643" h="1414221" extrusionOk="0">
                  <a:moveTo>
                    <a:pt x="0" y="0"/>
                  </a:moveTo>
                  <a:lnTo>
                    <a:pt x="1754643" y="0"/>
                  </a:lnTo>
                  <a:lnTo>
                    <a:pt x="1754643" y="1414221"/>
                  </a:lnTo>
                  <a:lnTo>
                    <a:pt x="0" y="141422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7" name="Google Shape;87;p1">
              <a:extLst>
                <a:ext uri="{FF2B5EF4-FFF2-40B4-BE49-F238E27FC236}">
                  <a16:creationId xmlns:a16="http://schemas.microsoft.com/office/drawing/2014/main" id="{BD2640FB-2C74-D173-ADEB-1AAB91DBA11B}"/>
                </a:ext>
              </a:extLst>
            </p:cNvPr>
            <p:cNvSpPr/>
            <p:nvPr/>
          </p:nvSpPr>
          <p:spPr>
            <a:xfrm>
              <a:off x="0" y="604703"/>
              <a:ext cx="3006153" cy="1300514"/>
            </a:xfrm>
            <a:custGeom>
              <a:avLst/>
              <a:gdLst/>
              <a:ahLst/>
              <a:cxnLst/>
              <a:rect l="l" t="t" r="r" b="b"/>
              <a:pathLst>
                <a:path w="3006153" h="1300514" extrusionOk="0">
                  <a:moveTo>
                    <a:pt x="0" y="0"/>
                  </a:moveTo>
                  <a:lnTo>
                    <a:pt x="3006153" y="0"/>
                  </a:lnTo>
                  <a:lnTo>
                    <a:pt x="3006153" y="1300513"/>
                  </a:lnTo>
                  <a:lnTo>
                    <a:pt x="0" y="13005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8" name="Google Shape;88;p1">
              <a:extLst>
                <a:ext uri="{FF2B5EF4-FFF2-40B4-BE49-F238E27FC236}">
                  <a16:creationId xmlns:a16="http://schemas.microsoft.com/office/drawing/2014/main" id="{B1F08508-3CFF-DB2F-124D-57662AFCA8D7}"/>
                </a:ext>
              </a:extLst>
            </p:cNvPr>
            <p:cNvSpPr/>
            <p:nvPr/>
          </p:nvSpPr>
          <p:spPr>
            <a:xfrm>
              <a:off x="3823451" y="643512"/>
              <a:ext cx="4906265" cy="1318559"/>
            </a:xfrm>
            <a:custGeom>
              <a:avLst/>
              <a:gdLst/>
              <a:ahLst/>
              <a:cxnLst/>
              <a:rect l="l" t="t" r="r" b="b"/>
              <a:pathLst>
                <a:path w="4906265" h="1318559" extrusionOk="0">
                  <a:moveTo>
                    <a:pt x="0" y="0"/>
                  </a:moveTo>
                  <a:lnTo>
                    <a:pt x="4906265" y="0"/>
                  </a:lnTo>
                  <a:lnTo>
                    <a:pt x="4906265" y="1318558"/>
                  </a:lnTo>
                  <a:lnTo>
                    <a:pt x="0" y="13185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79702550-51A1-4208-D815-2CEB79F05945}"/>
              </a:ext>
            </a:extLst>
          </p:cNvPr>
          <p:cNvSpPr/>
          <p:nvPr/>
        </p:nvSpPr>
        <p:spPr>
          <a:xfrm>
            <a:off x="-32901" y="1051100"/>
            <a:ext cx="18323704" cy="8777017"/>
          </a:xfrm>
          <a:custGeom>
            <a:avLst/>
            <a:gdLst/>
            <a:ahLst/>
            <a:cxnLst/>
            <a:rect l="l" t="t" r="r" b="b"/>
            <a:pathLst>
              <a:path w="18323704" h="8777017" extrusionOk="0">
                <a:moveTo>
                  <a:pt x="0" y="0"/>
                </a:moveTo>
                <a:lnTo>
                  <a:pt x="18323704" y="0"/>
                </a:lnTo>
                <a:lnTo>
                  <a:pt x="18323704" y="8777017"/>
                </a:lnTo>
                <a:lnTo>
                  <a:pt x="0" y="8777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32999"/>
            </a:blip>
            <a:stretch>
              <a:fillRect l="-2658" b="-40752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1FC410B4-9AFF-386D-5B97-DCA16BEB40E5}"/>
              </a:ext>
            </a:extLst>
          </p:cNvPr>
          <p:cNvSpPr/>
          <p:nvPr/>
        </p:nvSpPr>
        <p:spPr>
          <a:xfrm>
            <a:off x="3511563" y="9826112"/>
            <a:ext cx="11344944" cy="460888"/>
          </a:xfrm>
          <a:custGeom>
            <a:avLst/>
            <a:gdLst/>
            <a:ahLst/>
            <a:cxnLst/>
            <a:rect l="l" t="t" r="r" b="b"/>
            <a:pathLst>
              <a:path w="11344944" h="460888" extrusionOk="0">
                <a:moveTo>
                  <a:pt x="0" y="0"/>
                </a:moveTo>
                <a:lnTo>
                  <a:pt x="11344944" y="0"/>
                </a:lnTo>
                <a:lnTo>
                  <a:pt x="11344944" y="460888"/>
                </a:lnTo>
                <a:lnTo>
                  <a:pt x="0" y="460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ADA5E285-99C2-5DD8-4CFA-D3ABBA773681}"/>
              </a:ext>
            </a:extLst>
          </p:cNvPr>
          <p:cNvSpPr txBox="1"/>
          <p:nvPr/>
        </p:nvSpPr>
        <p:spPr>
          <a:xfrm>
            <a:off x="4179704" y="1507209"/>
            <a:ext cx="96854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INNOHACK 2.0</a:t>
            </a:r>
            <a:endParaRPr sz="1800" dirty="0">
              <a:solidFill>
                <a:srgbClr val="2E319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086A2-C111-EB4A-02E7-5777B5591826}"/>
              </a:ext>
            </a:extLst>
          </p:cNvPr>
          <p:cNvSpPr txBox="1"/>
          <p:nvPr/>
        </p:nvSpPr>
        <p:spPr>
          <a:xfrm>
            <a:off x="1027134" y="2705622"/>
            <a:ext cx="81168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2E3192"/>
                </a:solidFill>
                <a:latin typeface="Calibri"/>
                <a:ea typeface="Calibri"/>
                <a:cs typeface="Calibri"/>
                <a:sym typeface="Calibri"/>
              </a:rPr>
              <a:t>ACKNOWLEDGEMENTS</a:t>
            </a:r>
            <a:endParaRPr lang="en-US"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3CF84-B01B-572A-7915-DA32800C0230}"/>
              </a:ext>
            </a:extLst>
          </p:cNvPr>
          <p:cNvSpPr txBox="1"/>
          <p:nvPr/>
        </p:nvSpPr>
        <p:spPr>
          <a:xfrm>
            <a:off x="2342367" y="3499342"/>
            <a:ext cx="138412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 sincerely thank the hackathon organizers for providing us with the opportunity to work on the problem statement “Satellite Image Enhancement for Space Research.”**</a:t>
            </a:r>
          </a:p>
          <a:p>
            <a:endParaRPr lang="en-US" sz="2000" dirty="0"/>
          </a:p>
          <a:p>
            <a:r>
              <a:rPr lang="en-US" sz="2000" dirty="0"/>
              <a:t>We are grateful to our mentors, faculty members, and teammates for their continuous guidance, collaboration, and support throughout the development of our **Trust-Aware Lunar Super-Resolution System**.</a:t>
            </a:r>
          </a:p>
          <a:p>
            <a:endParaRPr lang="en-US" sz="2000" dirty="0"/>
          </a:p>
          <a:p>
            <a:r>
              <a:rPr lang="en-US" sz="2000" dirty="0"/>
              <a:t>We also acknowledge **ISRO and other space research organizations** for making lunar and planetary imagery publicly available for research and educational purposes. These datasets helped us understand real-world satellite imagery and develop our image preprocessing, super-resolution, scientific validation, and confidence-estimation pipeline.</a:t>
            </a:r>
          </a:p>
          <a:p>
            <a:endParaRPr lang="en-US" sz="2000" dirty="0"/>
          </a:p>
          <a:p>
            <a:r>
              <a:rPr lang="en-US" sz="2000" dirty="0"/>
              <a:t>We would also like to acknowledge the developers of the open-source libraries and tools used in our implementation, which greatly supported the development and testing of our prototype.</a:t>
            </a:r>
          </a:p>
          <a:p>
            <a:endParaRPr lang="en-US" sz="2000" dirty="0"/>
          </a:p>
          <a:p>
            <a:r>
              <a:rPr lang="en-US" sz="2000" dirty="0"/>
              <a:t>Finally, we thank our team mates and everyone who contributed ideas, technical support, testing, and feedback that helped us improve the project.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2256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739</Words>
  <Application>Microsoft Office PowerPoint</Application>
  <PresentationFormat>Custom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Shreeram S S</dc:creator>
  <cp:lastModifiedBy>shreeram SR</cp:lastModifiedBy>
  <cp:revision>5</cp:revision>
  <dcterms:created xsi:type="dcterms:W3CDTF">2006-08-16T00:00:00Z</dcterms:created>
  <dcterms:modified xsi:type="dcterms:W3CDTF">2026-08-20T15:27:07Z</dcterms:modified>
</cp:coreProperties>
</file>